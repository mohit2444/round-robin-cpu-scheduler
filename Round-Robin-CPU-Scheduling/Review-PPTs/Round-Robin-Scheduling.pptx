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tkinson Hyperlegible Next" panose="020F0502020204030204" pitchFamily="2" charset="0"/>
      <p:regular r:id="rId13"/>
    </p:embeddedFont>
    <p:embeddedFont>
      <p:font typeface="Atkinson Hyperlegible Next Bold" panose="020B0604020202020204" charset="0"/>
      <p:regular r:id="rId14"/>
    </p:embeddedFont>
    <p:embeddedFont>
      <p:font typeface="Overpass Bold" panose="020B0604020202020204" charset="0"/>
      <p:regular r:id="rId15"/>
    </p:embeddedFont>
    <p:embeddedFont>
      <p:font typeface="Overpass ExtraBold" panose="020B0604020202020204" charset="0"/>
      <p:regular r:id="rId16"/>
    </p:embeddedFont>
    <p:embeddedFont>
      <p:font typeface="Overpass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C"/>
    <a:srgbClr val="A0C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08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Round Robin as a scheduler built around turns. The key idea is simple: processes share the CPU through fixed time slices, returning to the queue when they still have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 first. The scheduler has to decide who runs next while multiple processes are ready. Round Robin makes that decision repeatable and fair by limiting each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two terms students need. The time quantum is the fixed interval. The ready queue is FIFO, so a process that still needs time goes to the rear and waits for its next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workflow left to right. Inputs become queue decisions, queue decisions become execution, and execution becomes a Gantt chart plus measurable timing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loop clockwise. Every decision depends on the queue front, the smaller of two times, and whether the process has finished. New arrivals join as the clock advances.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state from the formulas. Remaining time drives the next scheduling decision. Completion time lets the scheduler calculate turnaround time, then waiting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six turns in order. Each ready process receives two units, returns if unfinished, and disappears from the queue when its burst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completion times as the first check on the example. The Gantt chart is more than a picture of execution: it makes the repeated, fair rotation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behaviors rather than calling one universally better. A small quantum rotates more often and improves responsiveness. A large quantum reduces queue rotation. In both cases, completion removes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validation, not a new claim. Change the process counts, burst times, arrival times, and quantum. Then check the order, chart, averages, waiting time, and turnaround time against the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736600"/>
            <a:ext cx="5714857" cy="3810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066800"/>
            <a:ext cx="5003675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26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Round Robin</a:t>
            </a:r>
            <a:endParaRPr lang="en-US" sz="5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200" kern="100" spc="-26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Scheduling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377" y="2604492"/>
            <a:ext cx="500367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100" spc="-9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Every process gets a fair turn.</a:t>
            </a:r>
            <a:endParaRPr lang="en-US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47E2E-BA4C-9FA3-A3A7-D0F51469C1A5}"/>
              </a:ext>
            </a:extLst>
          </p:cNvPr>
          <p:cNvSpPr/>
          <p:nvPr/>
        </p:nvSpPr>
        <p:spPr>
          <a:xfrm>
            <a:off x="11067690" y="6573328"/>
            <a:ext cx="1124310" cy="215661"/>
          </a:xfrm>
          <a:prstGeom prst="rect">
            <a:avLst/>
          </a:prstGeom>
          <a:solidFill>
            <a:srgbClr val="A0C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98267" cy="6858000"/>
          </a:xfrm>
          <a:prstGeom prst="roundRect">
            <a:avLst>
              <a:gd name="adj" fmla="val 2710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04800"/>
            <a:ext cx="41426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588566"/>
            <a:ext cx="3787085" cy="217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kern="100" spc="-21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Fairness keeps one process from owning the CPU.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63344" y="2137271"/>
            <a:ext cx="622036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Why CPU scheduling needs fairness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63344" y="2727127"/>
            <a:ext cx="377816" cy="377825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7" name="Text 5"/>
          <p:cNvSpPr/>
          <p:nvPr/>
        </p:nvSpPr>
        <p:spPr>
          <a:xfrm>
            <a:off x="5609985" y="2808089"/>
            <a:ext cx="6940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57054" y="2750939"/>
            <a:ext cx="56266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Multiple processes compete for CPU time.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63344" y="3409752"/>
            <a:ext cx="377816" cy="377825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10" name="Text 8"/>
          <p:cNvSpPr/>
          <p:nvPr/>
        </p:nvSpPr>
        <p:spPr>
          <a:xfrm>
            <a:off x="5586174" y="3490714"/>
            <a:ext cx="74164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57054" y="3433564"/>
            <a:ext cx="562665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process that runs too long can make every other process wait.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63344" y="4342805"/>
            <a:ext cx="377816" cy="377825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13" name="Text 11"/>
          <p:cNvSpPr/>
          <p:nvPr/>
        </p:nvSpPr>
        <p:spPr>
          <a:xfrm>
            <a:off x="5587364" y="4423767"/>
            <a:ext cx="7392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57054" y="4366617"/>
            <a:ext cx="56266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Round Robin shares the CPU through fixed time slices.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CD3C28-2FD5-9C8C-44E0-A0E8093A0008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636812"/>
            <a:ext cx="614158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D23A2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1920577"/>
            <a:ext cx="563359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Every process gets a turn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2608262"/>
            <a:ext cx="563359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Round Robin rotates through the ready queue until all processes finish.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7987" y="3403203"/>
            <a:ext cx="2740552" cy="1817886"/>
          </a:xfrm>
          <a:prstGeom prst="roundRect">
            <a:avLst>
              <a:gd name="adj" fmla="val 4988"/>
            </a:avLst>
          </a:prstGeom>
          <a:solidFill>
            <a:srgbClr val="F8D8D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3631843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4265" y="3631803"/>
            <a:ext cx="163567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Time quantum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84265" y="4085828"/>
            <a:ext cx="163567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fixed CPU interval assigned per turn.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00935" y="3403203"/>
            <a:ext cx="2740651" cy="1817886"/>
          </a:xfrm>
          <a:prstGeom prst="roundRect">
            <a:avLst>
              <a:gd name="adj" fmla="val 4988"/>
            </a:avLst>
          </a:prstGeom>
          <a:solidFill>
            <a:srgbClr val="F8D8D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530" y="3631843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7213" y="3631803"/>
            <a:ext cx="163577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Ready queue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277213" y="4085828"/>
            <a:ext cx="163577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FIFO queue of processes waiting to run.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38D57C-DD88-82C4-91DD-E9ECC96B170C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27000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D23A2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410766"/>
            <a:ext cx="1117572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From input to results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626096"/>
            <a:ext cx="3581310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3882" y="2489696"/>
            <a:ext cx="314952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Enter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23882" y="2920802"/>
            <a:ext cx="314952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Enter each process's arrival time and burst time.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192" y="1302246"/>
            <a:ext cx="3581310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1087" y="2165846"/>
            <a:ext cx="314952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Set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4521087" y="2596952"/>
            <a:ext cx="31495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Set the time quantum.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397" y="978396"/>
            <a:ext cx="3581310" cy="142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18292" y="1841996"/>
            <a:ext cx="314952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Queue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318292" y="2273102"/>
            <a:ext cx="314952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 arrived processes to the ready queue.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4604742"/>
            <a:ext cx="3581310" cy="142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3882" y="5468342"/>
            <a:ext cx="314952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Run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23882" y="5899448"/>
            <a:ext cx="314952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Run the scheduler and display the Gantt chart.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192" y="4280892"/>
            <a:ext cx="3581310" cy="1428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21087" y="5144492"/>
            <a:ext cx="314952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Report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4521087" y="5575598"/>
            <a:ext cx="314952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Report completion, turnaround, and waiting times.</a:t>
            </a:r>
            <a:endParaRPr lang="en-US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037F71-2DF6-BA65-EBEE-A9231A6B3BAF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75" cy="6858000"/>
          </a:xfrm>
          <a:prstGeom prst="roundRect">
            <a:avLst>
              <a:gd name="adj" fmla="val 3604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2199084"/>
            <a:ext cx="307848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THE DECISION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4792" y="2482850"/>
            <a:ext cx="2773690" cy="217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kern="100" spc="-21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The queue controls the schedule.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351" y="1384399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8351" y="2286099"/>
            <a:ext cx="2931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Select front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348351" y="2740124"/>
            <a:ext cx="293114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Select the process at the front of the queue.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351" y="3535065"/>
            <a:ext cx="215895" cy="215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8351" y="4112915"/>
            <a:ext cx="2931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Run a slice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348351" y="4566940"/>
            <a:ext cx="293114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Run it for the smaller of the time quantum or remaining burst time.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562" y="1233289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52562" y="2134989"/>
            <a:ext cx="2931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Finish or reduce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752562" y="2589014"/>
            <a:ext cx="293114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If it finishes, calculate completion time. If it does not, reduce its remaining time and move it to the rear.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562" y="3988395"/>
            <a:ext cx="215895" cy="215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52562" y="4566245"/>
            <a:ext cx="2931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Requeue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752562" y="5020270"/>
            <a:ext cx="293114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 newly arrived processes as the clock advances.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86B51B-92E9-F93C-5FAE-FA78F8B7D02E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28600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D23A2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THE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512366"/>
            <a:ext cx="1117572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What the scheduler stores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102221"/>
          <a:ext cx="11200922" cy="2912594"/>
        </p:xfrm>
        <a:graphic>
          <a:graphicData uri="http://schemas.openxmlformats.org/drawingml/2006/table">
            <a:tbl>
              <a:tblPr/>
              <a:tblGrid>
                <a:gridCol w="2731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Stored value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Purpose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Timing relationship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Process ID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Names the process.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Arrival time and burst time enter with it.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Remaining time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Tracks work still to run.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Reduced after each time slice.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Completion time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Records when the process finishes.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Set when remaining time reaches zero.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Turnaround time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Completion time minus arrival time.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23A22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completion − arrival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Waiting time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Turnaround time minus burst time.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D23A22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turnaround − burst</a:t>
                      </a: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5319C9-4519-6EB2-BB83-9DB15C0B7943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721122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D23A2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1004888"/>
            <a:ext cx="1117572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A complete rotation in six turns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7987" y="1594743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With P1 = 5, P2 = 4, P3 = 2, all arriving at 0, and a time quantum of 2: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087463"/>
            <a:ext cx="9651759" cy="304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987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7" name="Text 4"/>
          <p:cNvSpPr/>
          <p:nvPr/>
        </p:nvSpPr>
        <p:spPr>
          <a:xfrm>
            <a:off x="603136" y="5427563"/>
            <a:ext cx="8002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7987" y="5793284"/>
            <a:ext cx="14814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9" name="Text 6"/>
          <p:cNvSpPr/>
          <p:nvPr/>
        </p:nvSpPr>
        <p:spPr>
          <a:xfrm>
            <a:off x="507987" y="5955209"/>
            <a:ext cx="14815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P1: 0–2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46772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11" name="Text 8"/>
          <p:cNvSpPr/>
          <p:nvPr/>
        </p:nvSpPr>
        <p:spPr>
          <a:xfrm>
            <a:off x="2523963" y="5427563"/>
            <a:ext cx="83609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46772" y="5793284"/>
            <a:ext cx="14814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13" name="Text 10"/>
          <p:cNvSpPr/>
          <p:nvPr/>
        </p:nvSpPr>
        <p:spPr>
          <a:xfrm>
            <a:off x="2446772" y="5955209"/>
            <a:ext cx="14815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P2: 2–4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5557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15" name="Text 12"/>
          <p:cNvSpPr/>
          <p:nvPr/>
        </p:nvSpPr>
        <p:spPr>
          <a:xfrm>
            <a:off x="4463839" y="5427563"/>
            <a:ext cx="83401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5557" y="5793284"/>
            <a:ext cx="14814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17" name="Text 14"/>
          <p:cNvSpPr/>
          <p:nvPr/>
        </p:nvSpPr>
        <p:spPr>
          <a:xfrm>
            <a:off x="4385557" y="5955209"/>
            <a:ext cx="14815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P3: 4–6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24343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19" name="Text 16"/>
          <p:cNvSpPr/>
          <p:nvPr/>
        </p:nvSpPr>
        <p:spPr>
          <a:xfrm>
            <a:off x="6398060" y="5427563"/>
            <a:ext cx="8430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24343" y="5793284"/>
            <a:ext cx="14815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21" name="Text 18"/>
          <p:cNvSpPr/>
          <p:nvPr/>
        </p:nvSpPr>
        <p:spPr>
          <a:xfrm>
            <a:off x="6324343" y="5955209"/>
            <a:ext cx="148169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P1: 6–8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63227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23" name="Text 20"/>
          <p:cNvSpPr/>
          <p:nvPr/>
        </p:nvSpPr>
        <p:spPr>
          <a:xfrm>
            <a:off x="8340715" y="5427563"/>
            <a:ext cx="8355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63227" y="5793284"/>
            <a:ext cx="14814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25" name="Text 22"/>
          <p:cNvSpPr/>
          <p:nvPr/>
        </p:nvSpPr>
        <p:spPr>
          <a:xfrm>
            <a:off x="8263227" y="5955209"/>
            <a:ext cx="14815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P2: 8–10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202012" y="5325963"/>
            <a:ext cx="380990" cy="381000"/>
          </a:xfrm>
          <a:prstGeom prst="ellipse">
            <a:avLst/>
          </a:prstGeom>
          <a:solidFill>
            <a:srgbClr val="D23A22"/>
          </a:solidFill>
          <a:ln/>
        </p:spPr>
      </p:sp>
      <p:sp>
        <p:nvSpPr>
          <p:cNvPr id="27" name="Text 24"/>
          <p:cNvSpPr/>
          <p:nvPr/>
        </p:nvSpPr>
        <p:spPr>
          <a:xfrm>
            <a:off x="10278408" y="5427563"/>
            <a:ext cx="83778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202012" y="5793284"/>
            <a:ext cx="1481497" cy="76200"/>
          </a:xfrm>
          <a:prstGeom prst="rect">
            <a:avLst/>
          </a:prstGeom>
          <a:solidFill>
            <a:srgbClr val="D23A22"/>
          </a:solidFill>
          <a:ln/>
        </p:spPr>
      </p:sp>
      <p:sp>
        <p:nvSpPr>
          <p:cNvPr id="29" name="Text 26"/>
          <p:cNvSpPr/>
          <p:nvPr/>
        </p:nvSpPr>
        <p:spPr>
          <a:xfrm>
            <a:off x="10202012" y="5955209"/>
            <a:ext cx="14815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kern="100" spc="6" dirty="0">
                <a:solidFill>
                  <a:srgbClr val="14213D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P1: 10–11</a:t>
            </a:r>
            <a:endParaRPr lang="en-US" sz="13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48D9B1-1D54-8CE4-C88B-A7F67FDF0C4A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91" y="355600"/>
            <a:ext cx="4153590" cy="3012281"/>
          </a:xfrm>
          <a:prstGeom prst="roundRect">
            <a:avLst>
              <a:gd name="adj" fmla="val 3010"/>
            </a:avLst>
          </a:prstGeom>
          <a:solidFill>
            <a:srgbClr val="EAF0F7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84200"/>
            <a:ext cx="39249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READ THE RESULT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4185" y="867966"/>
            <a:ext cx="3696401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30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The example finishes with measurable results.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661478" y="1064220"/>
            <a:ext cx="7174626" cy="635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6" name="Text 4"/>
          <p:cNvSpPr/>
          <p:nvPr/>
        </p:nvSpPr>
        <p:spPr>
          <a:xfrm>
            <a:off x="4864673" y="558800"/>
            <a:ext cx="69714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P1 completes at time 11.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1478" y="1829991"/>
            <a:ext cx="7174626" cy="635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8" name="Text 6"/>
          <p:cNvSpPr/>
          <p:nvPr/>
        </p:nvSpPr>
        <p:spPr>
          <a:xfrm>
            <a:off x="4864673" y="1324570"/>
            <a:ext cx="69714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P2 completes at time 10.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661478" y="2595761"/>
            <a:ext cx="7174626" cy="635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73" y="2090341"/>
            <a:ext cx="69714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P3 completes at time 6.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61478" y="3361531"/>
            <a:ext cx="7174626" cy="6350"/>
          </a:xfrm>
          <a:prstGeom prst="rect">
            <a:avLst/>
          </a:prstGeom>
          <a:solidFill>
            <a:srgbClr val="C9D3E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73" y="2856111"/>
            <a:ext cx="69714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Gantt chart makes the fair CPU rotation visible.</a:t>
            </a: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584DD6-0EE8-9D05-EC47-2F3C50486061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28600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D23A2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 KEY DESIGN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512366"/>
            <a:ext cx="1117572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Time quantum changes the behavior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7987" y="1102221"/>
            <a:ext cx="5435464" cy="5400179"/>
          </a:xfrm>
          <a:prstGeom prst="roundRect">
            <a:avLst>
              <a:gd name="adj" fmla="val 3386"/>
            </a:avLst>
          </a:prstGeom>
          <a:solidFill>
            <a:srgbClr val="EAF0F7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430" y="1375271"/>
            <a:ext cx="483857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Small quantum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6430" y="1876921"/>
            <a:ext cx="51370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More frequent queue rotation.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6430" y="2355354"/>
            <a:ext cx="1596588" cy="69751"/>
          </a:xfrm>
          <a:prstGeom prst="roundRect">
            <a:avLst>
              <a:gd name="adj" fmla="val 49999"/>
            </a:avLst>
          </a:prstGeom>
          <a:solidFill>
            <a:srgbClr val="D23A22"/>
          </a:solidFill>
          <a:ln/>
        </p:spPr>
      </p:sp>
      <p:sp>
        <p:nvSpPr>
          <p:cNvPr id="8" name="Text 6"/>
          <p:cNvSpPr/>
          <p:nvPr/>
        </p:nvSpPr>
        <p:spPr>
          <a:xfrm>
            <a:off x="806430" y="2601416"/>
            <a:ext cx="4838579" cy="161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Needs more time: preempt it, then place it at the rear.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New process arrives: add it to the ready queue in arrival order.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small quantum improves responsiveness.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1102221"/>
            <a:ext cx="5435464" cy="5400179"/>
          </a:xfrm>
          <a:prstGeom prst="roundRect">
            <a:avLst>
              <a:gd name="adj" fmla="val 3386"/>
            </a:avLst>
          </a:prstGeom>
          <a:solidFill>
            <a:srgbClr val="14213D"/>
          </a:solidFill>
          <a:ln w="19050">
            <a:solidFill>
              <a:srgbClr val="C9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6686" y="1375271"/>
            <a:ext cx="483857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Large quantum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46686" y="1876921"/>
            <a:ext cx="51370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Fewer queue rotations per process.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46686" y="2355354"/>
            <a:ext cx="1596588" cy="69751"/>
          </a:xfrm>
          <a:prstGeom prst="roundRect">
            <a:avLst>
              <a:gd name="adj" fmla="val 49999"/>
            </a:avLst>
          </a:prstGeom>
          <a:solidFill>
            <a:srgbClr val="D23A22"/>
          </a:solidFill>
          <a:ln/>
        </p:spPr>
      </p:sp>
      <p:sp>
        <p:nvSpPr>
          <p:cNvPr id="13" name="Text 11"/>
          <p:cNvSpPr/>
          <p:nvPr/>
        </p:nvSpPr>
        <p:spPr>
          <a:xfrm>
            <a:off x="6546686" y="2601416"/>
            <a:ext cx="4838579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Finishes within quantum: remove the process and continue.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large quantum reduces queue rotation.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process still returns only if it is unfinished.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180C99-8FAB-2474-6060-33FBF2756D28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3171031"/>
          </a:xfrm>
          <a:prstGeom prst="roundRect">
            <a:avLst>
              <a:gd name="adj" fmla="val 3845"/>
            </a:avLst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55600"/>
            <a:ext cx="40892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100" spc="13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FINAL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639366"/>
            <a:ext cx="3708307" cy="217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kern="100" spc="-21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Validate the scheduler</a:t>
            </a:r>
            <a:endParaRPr lang="en-US" sz="4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200" kern="100" spc="-21" dirty="0">
                <a:solidFill>
                  <a:srgbClr val="FFFFFF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and remember the cycle.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825879" y="454025"/>
            <a:ext cx="701022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13" dirty="0">
                <a:solidFill>
                  <a:srgbClr val="14213D"/>
                </a:solidFill>
                <a:latin typeface="Overpass ExtraBold" pitchFamily="34" charset="0"/>
                <a:ea typeface="Overpass ExtraBold" pitchFamily="34" charset="-122"/>
                <a:cs typeface="Overpass ExtraBold" pitchFamily="34" charset="-120"/>
              </a:rPr>
              <a:t>Test the edge cases.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25879" y="1043880"/>
            <a:ext cx="7010225" cy="167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Test different process counts, burst times, and arrival times.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Compare small and large time quanta.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Include equal burst times and processes arriving mid-schedule.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 execution order, Gantt chart, averages, waiting time, and turnaround time.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987" y="3488531"/>
            <a:ext cx="116837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Processes enter the ready queue, receive a fixed slice, return if unfinished, and continue rotating until completion.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73D766-C5A4-1350-851B-FC46E0ACA44E}"/>
              </a:ext>
            </a:extLst>
          </p:cNvPr>
          <p:cNvSpPr/>
          <p:nvPr/>
        </p:nvSpPr>
        <p:spPr>
          <a:xfrm>
            <a:off x="11102196" y="6564702"/>
            <a:ext cx="1089804" cy="3022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910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Atkinson Hyperlegible Next Bold</vt:lpstr>
      <vt:lpstr>Atkinson Hyperlegible Next</vt:lpstr>
      <vt:lpstr>Overpass ExtraBold</vt:lpstr>
      <vt:lpstr>Overpass Bold</vt:lpstr>
      <vt:lpstr>Overpass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EVANI SRIANISH SARAVAN .</cp:lastModifiedBy>
  <cp:revision>2</cp:revision>
  <dcterms:created xsi:type="dcterms:W3CDTF">2026-10-05T19:19:40Z</dcterms:created>
  <dcterms:modified xsi:type="dcterms:W3CDTF">2026-10-05T19:22:15Z</dcterms:modified>
</cp:coreProperties>
</file>